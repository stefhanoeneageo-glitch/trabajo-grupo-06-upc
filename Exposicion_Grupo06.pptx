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94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12700">
            <a:solidFill>
              <a:srgbClr val="3A3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12700">
            <a:solidFill>
              <a:srgbClr val="3A3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12700">
            <a:solidFill>
              <a:srgbClr val="3A3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12700">
            <a:solidFill>
              <a:srgbClr val="3A3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12700">
            <a:solidFill>
              <a:srgbClr val="3A3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12700">
            <a:solidFill>
              <a:srgbClr val="3A3E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 · UPC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la Resistencia a Compresión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Concreto mediante Aprendizaje Automático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0" descr="/home/claude/work/icon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" y="4540910"/>
            <a:ext cx="382219" cy="38221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4480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Burgos · Jose Vargas · Juan Ubillus · Stefhano Sinarahua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LA EXPOSICIÓN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proyecto, tres entregas escalonadas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331720"/>
            <a:ext cx="731520" cy="731520"/>
          </a:xfrm>
          <a:prstGeom prst="ellipse">
            <a:avLst/>
          </a:prstGeom>
          <a:solidFill>
            <a:srgbClr val="2B2E33"/>
          </a:solidFill>
          <a:ln/>
        </p:spPr>
      </p:sp>
      <p:pic>
        <p:nvPicPr>
          <p:cNvPr id="6" name="Image 0" descr="/home/claude/work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582" y="241950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Datos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Repositorio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de la nota final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2331720"/>
            <a:ext cx="731520" cy="731520"/>
          </a:xfrm>
          <a:prstGeom prst="ellipse">
            <a:avLst/>
          </a:prstGeom>
          <a:solidFill>
            <a:srgbClr val="2B2E33"/>
          </a:solidFill>
          <a:ln/>
        </p:spPr>
      </p:sp>
      <p:pic>
        <p:nvPicPr>
          <p:cNvPr id="12" name="Image 1" descr="/home/claude/work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182" y="2419502"/>
            <a:ext cx="555955" cy="5559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480560" y="3794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Exploratorio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Plan Algorítmico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8056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de la nota final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0" y="2331720"/>
            <a:ext cx="731520" cy="731520"/>
          </a:xfrm>
          <a:prstGeom prst="ellipse">
            <a:avLst/>
          </a:prstGeom>
          <a:solidFill>
            <a:srgbClr val="2B2E33"/>
          </a:solidFill>
          <a:ln/>
        </p:spPr>
      </p:sp>
      <p:pic>
        <p:nvPicPr>
          <p:cNvPr id="18" name="Image 2" descr="/home/claude/work/icons/troph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1782" y="2419502"/>
            <a:ext cx="555955" cy="5559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6384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8138160" y="3794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y Cierre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13816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de la nota final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· DEFINICIÓN DEL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predecir la resistencia del concreto?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492240" cy="301752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concreto no tiene una resistencia fija: depende de la dosificación de sus componentes y del tiempo de curado.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ensayo normado (NTP 339.034) exige esperar hasta 28 días de curado para un resultado confiable.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1502E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modelo predictivo permite estimar la resistencia con anticipación, complementando —sin reemplazar— el ensayo físico.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3736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2B2E33"/>
          </a:solidFill>
          <a:ln/>
        </p:spPr>
      </p:sp>
      <p:sp>
        <p:nvSpPr>
          <p:cNvPr id="6" name="Shape 3"/>
          <p:cNvSpPr/>
          <p:nvPr/>
        </p:nvSpPr>
        <p:spPr>
          <a:xfrm>
            <a:off x="9006840" y="2240280"/>
            <a:ext cx="1005840" cy="100584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7" name="Image 0" descr="/home/claude/work/icons/vi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1" y="2360981"/>
            <a:ext cx="764438" cy="7644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6640" y="34747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días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7772400" y="4160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curado normado antes de conocer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resistencia real de la mezcla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955280" y="5120640"/>
            <a:ext cx="3108960" cy="0"/>
          </a:xfrm>
          <a:prstGeom prst="line">
            <a:avLst/>
          </a:prstGeom>
          <a:noFill/>
          <a:ln w="12700">
            <a:solidFill>
              <a:srgbClr val="4A4E5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189720" y="5257800"/>
            <a:ext cx="640080" cy="640080"/>
          </a:xfrm>
          <a:prstGeom prst="ellipse">
            <a:avLst/>
          </a:prstGeom>
          <a:solidFill>
            <a:srgbClr val="3A3E44"/>
          </a:solidFill>
          <a:ln/>
        </p:spPr>
      </p:sp>
      <p:pic>
        <p:nvPicPr>
          <p:cNvPr id="12" name="Image 1" descr="/home/claude/work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530" y="5334610"/>
            <a:ext cx="486461" cy="4864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· Problema y contexto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· DATOS Y REPOSITORIO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Compressive Strength Dataset (UCI)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2B2E33"/>
          </a:solidFill>
          <a:ln/>
        </p:spPr>
      </p:sp>
      <p:pic>
        <p:nvPicPr>
          <p:cNvPr id="6" name="Image 0" descr="/home/claude/work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22146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1,030 registros · 8 variables de entrada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80360"/>
          <a:ext cx="4754880" cy="15361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Cemento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Superplastificante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Escoria de alto horno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Agregado grueso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Cenizas volantes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Agregado fino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Agua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Edad de curado (días)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objetivo: resistencia a compresión (MPa)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914400" y="5074920"/>
            <a:ext cx="4754880" cy="0"/>
          </a:xfrm>
          <a:prstGeom prst="line">
            <a:avLst/>
          </a:prstGeom>
          <a:noFill/>
          <a:ln w="12700">
            <a:solidFill>
              <a:srgbClr val="E2E0D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5212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UCI Machine Learning Repository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Repositorio: github.com/stefhanoeneageo-glitch/Trabajo-Grupo-06-UPC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0" y="182880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2B2E33"/>
          </a:solidFill>
          <a:ln/>
        </p:spPr>
      </p:sp>
      <p:sp>
        <p:nvSpPr>
          <p:cNvPr id="14" name="Shape 10"/>
          <p:cNvSpPr/>
          <p:nvPr/>
        </p:nvSpPr>
        <p:spPr>
          <a:xfrm>
            <a:off x="6766560" y="2194560"/>
            <a:ext cx="594360" cy="5943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5" name="Image 1" descr="/home/claude/work/icons/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83" y="22658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3800" y="2240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colaborativo en GitHub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3017520"/>
          <a:ext cx="4297680" cy="274320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7E5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README.md con objetivo, dataset y marco VDS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7E5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Commits de los 4 integrantes del equipo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7E5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Scripts de EDA y modelado en Python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7E5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Bitácora de uso de IA documentada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· Datos y repositorio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· MARCO VDS (YU &amp; BARTER, 2024)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PCS aplicados al proyecto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331720"/>
            <a:ext cx="731520" cy="7315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6" name="Image 0" descr="/home/claude/work/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882" y="241950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Predictibilidad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40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físico-químicas conocidas (agua/cemento, curado) y estudios previos (Yeh, 1998/2006) validan que existe señal aprendible.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5737860" y="2331720"/>
            <a:ext cx="731520" cy="7315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1" name="Image 1" descr="/home/claude/work/icons/microchi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642" y="241950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91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Computabilidad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38404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40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1,030 registros, variables numéricas continuas, sin datos faltantes: viable en un notebook estándar (pandas, scikit-learn).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9532620" y="2331720"/>
            <a:ext cx="731520" cy="7315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6" name="Image 2" descr="/home/claude/work/icons/balanc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402" y="2419502"/>
            <a:ext cx="555955" cy="5559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91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38404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40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cruzada 5-fold y comparación de dos algoritmos distintos para confirmar que las conclusiones no dependen del muestreo ni del modelo.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· Marco VDS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· ANÁLISIS EXPLORATORIO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Correlación entre componentes y resistencia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212080" cy="4773168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work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4937760" cy="3950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9161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 — Matriz de correlación entre componentes, edad y resistencia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2157984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work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295144"/>
            <a:ext cx="512064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554126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 — Relación agua/cemento vs. resistencia, coloreada por edad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0080" y="5989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cemento correlaciona positivamente con la resistencia; el agua (relación a/c), negativamente — consistente con la teoría clásica de diseño de mezclas.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· EDA · Correlación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· ANÁLISIS EXPLORATORIO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la resistencia y valores atípicos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work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51206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06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 — Distribución de frecuencias de la resistencia (MPa)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17830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work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20240"/>
            <a:ext cx="5120640" cy="384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5806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4 — Boxplot de resistencia, criterio IQR para outliers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· EDA · Distribución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· PLAN ALGORÍTMICO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algoritmos, dos naturalezas distintas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77440"/>
            <a:ext cx="777240" cy="777240"/>
          </a:xfrm>
          <a:prstGeom prst="ellipse">
            <a:avLst/>
          </a:prstGeom>
          <a:solidFill>
            <a:srgbClr val="6B6E73"/>
          </a:solidFill>
          <a:ln/>
        </p:spPr>
      </p:sp>
      <p:pic>
        <p:nvPicPr>
          <p:cNvPr id="6" name="Image 0" descr="/home/claude/work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247070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95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Ridge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7452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lineal regularizado (L2)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42900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0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Penaliza coeficientes grandes para reducir sobreajuste. Usado como línea base para verificar si una relación lineal explica la resistencia.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201168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4F1EC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377440"/>
            <a:ext cx="777240" cy="77724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1" descr="/home/claude/work/icons/tre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49" y="2470709"/>
            <a:ext cx="590702" cy="5907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395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54380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Ensamble no lineal de árboles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29400" y="342900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0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árboles de decisión sobre submuestras aleatorias. Captura interacciones no lineales entre componentes de la mezcla.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172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evaluados mediante validación cruzada de 5 particiones · Métricas: R², RMSE y MAE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· Plan algorítmico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supera ampliamente a Ridge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394960" cy="1920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Regresión Ridge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10.33 MPa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8.21 MPa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15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15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15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4.92 MPa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15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3.47 MPa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5196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04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explica el 90.7% de la variabilidad de la resistencia, casi duplicando el ajuste de la Regresión Ridge (59.4%), con menos de la mitad del error de predicción.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37960" y="1828800"/>
            <a:ext cx="5029200" cy="4785360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work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965960"/>
            <a:ext cx="4754880" cy="3962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0" y="5974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5 — Comparación de R² entre ambos modelos (5-fold CV)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· Resultados</a:t>
            </a:r>
            <a:endParaRPr lang="en-US" sz="1000" dirty="0"/>
          </a:p>
        </p:txBody>
      </p:sp>
      <p:sp>
        <p:nvSpPr>
          <p:cNvPr id="4" name="Text 6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 de curado y cemento dominan la predicción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work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51206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06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6 — Importancia relativa de variables (Random Forest)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19659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955280" y="19659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de curado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92240" y="2880360"/>
            <a:ext cx="5120640" cy="0"/>
          </a:xfrm>
          <a:prstGeom prst="line">
            <a:avLst/>
          </a:prstGeom>
          <a:noFill/>
          <a:ln w="12700">
            <a:solidFill>
              <a:srgbClr val="E2E0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9260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955280" y="2926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92240" y="3840480"/>
            <a:ext cx="5120640" cy="0"/>
          </a:xfrm>
          <a:prstGeom prst="line">
            <a:avLst/>
          </a:prstGeom>
          <a:noFill/>
          <a:ln w="12700">
            <a:solidFill>
              <a:srgbClr val="E2E0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3886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10.7%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95528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92240" y="4800600"/>
            <a:ext cx="5120640" cy="0"/>
          </a:xfrm>
          <a:prstGeom prst="line">
            <a:avLst/>
          </a:prstGeom>
          <a:noFill/>
          <a:ln w="12700">
            <a:solidFill>
              <a:srgbClr val="E2E0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4846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955280" y="4846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Escoria de alto horno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92240" y="59436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Coincide con la teoría de diseño de mezclas: la resistencia depende fuertemente del curado y de la relación agua/cemento.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· Importancia de variables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· DISCUSIÓN Y 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validación a la aplicación en obra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3538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6" name="Image 0" descr="/home/claude/work/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24944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gana Random Forest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resistencia no depende linealmente de sus componentes: el efecto del agua varía según el cemento, y el efecto puzolánico de aditivos se manifiesta gradualmente con el curado.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21031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35383F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423160"/>
            <a:ext cx="594360" cy="5943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1" name="Image 1" descr="/home/claude/work/icons/troph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043" y="24944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154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práctica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37033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Estimar preliminarmente la resistencia esperada antes de completar el curado normado, apoyando el diseño de mezclas — sin reemplazar los ensayos exigidos por la norma.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35383F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423160"/>
            <a:ext cx="594360" cy="5943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6" name="Image 2" descr="/home/claude/work/icons/bra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803" y="24944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154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37033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Gradient Boosting / XGBoost y ampliar el dataset con mezclas locales peruanas para mejorar la aplicabilidad al contexto nacional.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· Discusión y conclusiones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1463040"/>
            <a:ext cx="914400" cy="9144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/home/claude/work/icons/comm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1572768"/>
            <a:ext cx="694944" cy="694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51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github.com/stefhanoeneageo-glitch/Trabajo-Grupo-06-UPC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Burgos · Jose Vargas · Juan Ubillus · Stefhano Sinarahua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06 · Aplicaciones de IA en Estructuras · UPC · Julio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Microsoft Office PowerPoint</Application>
  <PresentationFormat>Panorámica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Stefhano Sinarahua Ramos</cp:lastModifiedBy>
  <cp:revision>4</cp:revision>
  <dcterms:created xsi:type="dcterms:W3CDTF">2026-07-30T19:46:11Z</dcterms:created>
  <dcterms:modified xsi:type="dcterms:W3CDTF">2026-07-30T19:54:13Z</dcterms:modified>
</cp:coreProperties>
</file>